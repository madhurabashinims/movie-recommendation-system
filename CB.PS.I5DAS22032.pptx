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4" r:id="rId6"/>
    <p:sldId id="274" r:id="rId7"/>
    <p:sldId id="275" r:id="rId8"/>
    <p:sldId id="266" r:id="rId9"/>
    <p:sldId id="262" r:id="rId10"/>
    <p:sldId id="261" r:id="rId11"/>
    <p:sldId id="267" r:id="rId12"/>
    <p:sldId id="268" r:id="rId13"/>
    <p:sldId id="269" r:id="rId14"/>
    <p:sldId id="270" r:id="rId15"/>
    <p:sldId id="276" r:id="rId16"/>
    <p:sldId id="277" r:id="rId17"/>
    <p:sldId id="278" r:id="rId18"/>
    <p:sldId id="271" r:id="rId19"/>
    <p:sldId id="272" r:id="rId20"/>
    <p:sldId id="27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77CE63-5D8B-4EAA-A4A6-5CF4A07E1074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0C8402-589C-415D-A6E6-0883CEFF2C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3389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C8402-589C-415D-A6E6-0883CEFF2C5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648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04FE13-6606-4318-8B69-3EF4D1E9F17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37845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C8402-589C-415D-A6E6-0883CEFF2C5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6844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C8402-589C-415D-A6E6-0883CEFF2C5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193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F7D92-1CCB-5135-42EE-9A39507549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652DA0-BC71-0FF8-AC17-DF4CD87F7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271BE-EB56-06E1-EBD6-EA2BE9DAA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53A69-D55B-49A8-B777-C5087D244662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D23F9-A97E-E297-6701-AF81CD7A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85B5B-F18B-D532-7DA4-12B938258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72548-A44F-4310-BA1A-8515E11946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6051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F357D-27B7-8C35-82B8-8916C0171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D0ED0-D16E-47FE-60A0-16BEFA13D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FA532-3F82-5E06-34D5-13AE0BFFB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53A69-D55B-49A8-B777-C5087D244662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4975A-FE03-8432-44F2-E35BF8B63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9631A-7F68-7B03-42D5-21C3C541C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72548-A44F-4310-BA1A-8515E11946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6229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5C4A4-6561-59A6-BDA3-687121726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2DF278-9EEE-EABB-6799-0F5567577F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7CBA3-7A8E-F786-5098-AE4EFBB83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53A69-D55B-49A8-B777-C5087D244662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4013A-6AD3-62DE-DF2C-551268BD1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88169-6D94-700D-3DCB-E95759753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72548-A44F-4310-BA1A-8515E11946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032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ADD35-864B-3AD4-B287-F19D00385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14FE8-FA8D-20F8-3BEF-C14BD9191D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5B98FC-8BBD-81F3-A287-0386056C04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5C7DE1-EBA7-4ECA-4623-DCF1E961A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53A69-D55B-49A8-B777-C5087D244662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A30F3C-2F98-774E-DDE2-8264149D0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ABE4AF-7327-3DF2-F626-ADCB5EB85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72548-A44F-4310-BA1A-8515E11946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5951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C18BE-4A88-ADAD-741A-3DCCB1F8F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930FC-D46C-4E6F-4C6D-D9A7E4408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585ECF-5166-833E-536F-0F8FC12F6A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A9CF35-BA80-8C43-DFE5-E24BCAAC2D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63D808-606A-1D9D-BE7B-77297C233D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D1D07D-9551-773E-1645-15A4092F6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53A69-D55B-49A8-B777-C5087D244662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96BFC4-7289-C3D6-4DB5-CCA55E1BB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219A3-087E-C0D3-6335-DB3009352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72548-A44F-4310-BA1A-8515E11946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005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C8250-408E-ADBE-256E-1A51E87A7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EA6A16-EC19-9281-3AEA-E5F04F344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53A69-D55B-49A8-B777-C5087D244662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21ED24-C0D1-1782-95A7-C3A25F2B1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F06C09-A4BD-9A01-CEEF-3F70AA511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72548-A44F-4310-BA1A-8515E11946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286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86A339-0C7F-7ACD-277A-47ED24D7F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53A69-D55B-49A8-B777-C5087D244662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E563C8-A902-A299-F766-FE5E418FF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0D646-DDE3-5B7B-0E90-9EF710E36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72548-A44F-4310-BA1A-8515E11946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801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13A69-5F90-7FA0-FCA5-548DB5D13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E392A-9A63-B076-C73C-6DA2B389C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A68C7C-4301-6AD1-3B93-1E7AC0D57D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3A383F-009E-7FA8-C03D-6A4A05836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53A69-D55B-49A8-B777-C5087D244662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499F4-3CC3-525B-D003-ACB61FE3A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C0E048-0D18-5598-8641-1819C6FA5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72548-A44F-4310-BA1A-8515E11946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524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37A2B-AD9C-4D65-EDB6-10CA27EF2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015302-1B53-ACB3-13EC-8994DE6F8C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459BCC-3C8E-08A1-F06B-D9FF1FCB2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465286-02D2-BEAA-955E-6C0CC4925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53A69-D55B-49A8-B777-C5087D244662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A68F5F-2154-D67E-0DEF-D8C8CD6A2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74A359-5B39-A35E-A5B8-F6331A99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72548-A44F-4310-BA1A-8515E11946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800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CB670-2F2C-D548-8F88-9E5927E43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910D36-45D9-33D3-036D-71CD9F06DF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93CB90-184E-EE0D-6BBD-F9B137FBE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53A69-D55B-49A8-B777-C5087D244662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94CFB-E7AC-53CE-5260-BBD0FB6A1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9A47B-0155-84B8-F124-F390AA9EE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72548-A44F-4310-BA1A-8515E11946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134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7888E3-C629-9AD0-D8CE-C775D61F22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D6166A-21F6-E90C-C4E4-9202F08C4D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D2D62-919A-7A20-F233-12EF6F596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53A69-D55B-49A8-B777-C5087D244662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2E48B-7049-8B80-EB44-8314EC979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4A82C-65B3-1ACC-43CC-944BD10F1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72548-A44F-4310-BA1A-8515E11946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6003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386D54-8397-FCA5-7E3A-147976720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25C89D-DCD7-32AD-E06F-70FE1150A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BA60B-B066-F8D1-317A-A5A680BB1E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53A69-D55B-49A8-B777-C5087D244662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714C5-4D8A-550A-B3A1-0CD4E6FFF5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F2E2E-AFC3-016A-FBA1-D93059CCC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572548-A44F-4310-BA1A-8515E11946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958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B9E5CC6-267B-3913-C706-949E4FFC11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1066"/>
            <a:ext cx="9144000" cy="2049992"/>
          </a:xfrm>
        </p:spPr>
        <p:txBody>
          <a:bodyPr>
            <a:noAutofit/>
          </a:bodyPr>
          <a:lstStyle/>
          <a:p>
            <a:r>
              <a:rPr lang="en" sz="4400" b="1" dirty="0">
                <a:latin typeface="Times New Roman" panose="02020603050405020304" pitchFamily="18" charset="0"/>
                <a:ea typeface="EB Garamond"/>
                <a:cs typeface="Times New Roman" panose="02020603050405020304" pitchFamily="18" charset="0"/>
                <a:sym typeface="EB Garamond"/>
              </a:rPr>
              <a:t>A Hybrid Deep Learning–Based Multimodal Explainable Movie Recommendation System 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31436C7-A6CB-9B54-1D73-FE67A81A02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533" y="3754438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Madhura Bashini M S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CB.PS.I5DAS22032</a:t>
            </a:r>
          </a:p>
          <a:p>
            <a:pPr algn="l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Int.MSc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Science-A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5043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DFB2353-0F1A-C03A-A820-CF323703B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334" y="345315"/>
            <a:ext cx="10515600" cy="845608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BB4135-83DD-A90E-FF2E-90D75FCEA5F5}"/>
              </a:ext>
            </a:extLst>
          </p:cNvPr>
          <p:cNvSpPr txBox="1"/>
          <p:nvPr/>
        </p:nvSpPr>
        <p:spPr>
          <a:xfrm>
            <a:off x="330199" y="1344123"/>
            <a:ext cx="1086273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streaming platforms make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discovery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challenging task for users. Existing recommendation systems rely primarily on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past behavior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fail to capture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user context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cannot handle complex queries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transparency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To address these limitations, this work proposes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multimodal recommendation system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integrates collaborative, textual, and visual features within a unified framework. The system incorporates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emotion-aware adaptation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constraint-aware query processing, and supports flexible natural language inputs. Additionally, it generates clear, human-understandable explanations, enabling more relevant, diverse, and context-aware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3692087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7D814D5-B9CF-EBC9-6D53-EA60DADF9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6399"/>
            <a:ext cx="10515600" cy="88053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70061CA-073C-BA91-5999-3DE233D2DC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824158"/>
              </p:ext>
            </p:extLst>
          </p:nvPr>
        </p:nvGraphicFramePr>
        <p:xfrm>
          <a:off x="152400" y="727953"/>
          <a:ext cx="11684000" cy="602985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89666">
                  <a:extLst>
                    <a:ext uri="{9D8B030D-6E8A-4147-A177-3AD203B41FA5}">
                      <a16:colId xmlns:a16="http://schemas.microsoft.com/office/drawing/2014/main" val="2325080213"/>
                    </a:ext>
                  </a:extLst>
                </a:gridCol>
                <a:gridCol w="1227667">
                  <a:extLst>
                    <a:ext uri="{9D8B030D-6E8A-4147-A177-3AD203B41FA5}">
                      <a16:colId xmlns:a16="http://schemas.microsoft.com/office/drawing/2014/main" val="982829661"/>
                    </a:ext>
                  </a:extLst>
                </a:gridCol>
                <a:gridCol w="3649133">
                  <a:extLst>
                    <a:ext uri="{9D8B030D-6E8A-4147-A177-3AD203B41FA5}">
                      <a16:colId xmlns:a16="http://schemas.microsoft.com/office/drawing/2014/main" val="3205270484"/>
                    </a:ext>
                  </a:extLst>
                </a:gridCol>
                <a:gridCol w="2480734">
                  <a:extLst>
                    <a:ext uri="{9D8B030D-6E8A-4147-A177-3AD203B41FA5}">
                      <a16:colId xmlns:a16="http://schemas.microsoft.com/office/drawing/2014/main" val="1288225461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2199054340"/>
                    </a:ext>
                  </a:extLst>
                </a:gridCol>
              </a:tblGrid>
              <a:tr h="4688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 &amp; Venue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Idea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Missing Component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CineMatch Solution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1414945478"/>
                  </a:ext>
                </a:extLst>
              </a:tr>
              <a:tr h="110469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Language Models are Zero-Shot Rankers for Recommender Systems</a:t>
                      </a:r>
                      <a:r>
                        <a:rPr lang="en-IN" sz="1400" b="1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 action="ppaction://hlinksldjump"/>
                        </a:rPr>
                        <a:t>1</a:t>
                      </a:r>
                      <a:b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ECIR 2024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Yupeng</a:t>
                      </a:r>
                      <a:r>
                        <a:rPr lang="en-IN" sz="11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Hou, Junjie Zhang, Zihan Lin, Hongyu Lu, </a:t>
                      </a:r>
                      <a:r>
                        <a:rPr lang="en-IN" sz="11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Ruobing</a:t>
                      </a:r>
                      <a:r>
                        <a:rPr lang="en-IN" sz="11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Xie, Julian McAuley, and Wayne Xin </a:t>
                      </a:r>
                      <a:endParaRPr lang="da-DK" sz="1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LLMs like GPT rank candidates from natural language descriptions zero-shot without fine-tuning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 LLM API call per ranking (2-5s latency, not real-time viable)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 hybrid scorer (milliseconds) + LLM only for post-hoc explanations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3230984073"/>
                  </a:ext>
                </a:extLst>
              </a:tr>
              <a:tr h="989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Evaluating Conversational Recommender Systems</a:t>
                      </a:r>
                      <a:r>
                        <a:rPr lang="en-US" sz="1400" b="1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b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ECIR 2022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Gustavo Penha and Claudia Hauff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Conversational </a:t>
                      </a:r>
                      <a:r>
                        <a:rPr lang="en-US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recsys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uses multi-turn dialogue with structured clarifying questions (slot filling)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Can't handle free-form emotional input ("I miss my mom") or negation; requires user answers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DistilRoBERTa zero-shot emotion (single pass) + direct negation handling from query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4137142053"/>
                  </a:ext>
                </a:extLst>
              </a:tr>
              <a:tr h="11878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Incorporating User Emotion in Recommender Systems</a:t>
                      </a:r>
                      <a:r>
                        <a:rPr lang="en-US" sz="1400" b="1" baseline="4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 action="ppaction://hlinksldjump"/>
                        </a:rPr>
                        <a:t>3</a:t>
                      </a:r>
                      <a:b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IP&amp;M 2023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r>
                        <a:rPr lang="en-IN" sz="11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Suyu</a:t>
                      </a:r>
                      <a:r>
                        <a:rPr lang="en-IN" sz="11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Zhao</a:t>
                      </a:r>
                    </a:p>
                    <a:p>
                      <a:r>
                        <a:rPr lang="en-IN" sz="11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Miao Zhang</a:t>
                      </a:r>
                    </a:p>
                    <a:p>
                      <a:r>
                        <a:rPr lang="en-IN" sz="11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Yingxue</a:t>
                      </a:r>
                      <a:r>
                        <a:rPr lang="en-IN" sz="11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Zhao</a:t>
                      </a:r>
                    </a:p>
                    <a:p>
                      <a:r>
                        <a:rPr lang="en-IN" sz="11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Zhenhua Huang</a:t>
                      </a:r>
                    </a:p>
                    <a:p>
                      <a:r>
                        <a:rPr lang="en-IN" sz="11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Xiuqiang</a:t>
                      </a:r>
                      <a:r>
                        <a:rPr lang="en-IN" sz="11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He</a:t>
                      </a:r>
                    </a:p>
                    <a:p>
                      <a:r>
                        <a:rPr lang="en-IN" sz="11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Ruining Dong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Emotion-aware recommendation improves satisfaction; emotion is strong contextual signal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Emotion used only as post-filter after standard recommendation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Emotion directly adjusts α/β/γ fusion weights before scoring + auto emotion inference from text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2101723972"/>
                  </a:ext>
                </a:extLst>
              </a:tr>
              <a:tr h="11957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 Graph Tuning for Multimodal Recommendation</a:t>
                      </a:r>
                      <a:r>
                        <a:rPr lang="en-US" sz="1400" b="1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 action="ppaction://hlinksldjump"/>
                        </a:rPr>
                        <a:t>4</a:t>
                      </a:r>
                      <a:b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ACM Multimedia 2023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Yinwei</a:t>
                      </a: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Wei, Xiang Wang, </a:t>
                      </a:r>
                      <a:r>
                        <a:rPr lang="en-IN" sz="12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Liqiang</a:t>
                      </a: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Nie, </a:t>
                      </a:r>
                      <a:r>
                        <a:rPr lang="en-IN" sz="12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Xiangnan</a:t>
                      </a: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He, and Tat-Seng Chua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fine-tuning of graph-based multimodal recommenders by selective parameter updates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 construction needed at inference time—not scalable to 62K+ movies real-time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NCF+text+visual embedding fusion without graphs—fully real-time and query-driven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2461209940"/>
                  </a:ext>
                </a:extLst>
              </a:tr>
              <a:tr h="91227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Recommendation with Contrastive Learning</a:t>
                      </a:r>
                      <a:r>
                        <a:rPr lang="en-US" sz="1400" b="1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 action="ppaction://hlinksldjump"/>
                        </a:rPr>
                        <a:t>5</a:t>
                      </a:r>
                      <a:b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TMM 2024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Xixun</a:t>
                      </a: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Lin, Rui Liu, and Guandong Xu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Contrastive learning aligns visual (posters) and textual item representations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 training-time genre alignment can't adapt to real-time user genre preferences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Genre-conditioned Jaccard boost dynamically links visuals to query genres at inference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2071417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3248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500C9CD-2394-93D6-049D-E58066D917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646710"/>
              </p:ext>
            </p:extLst>
          </p:nvPr>
        </p:nvGraphicFramePr>
        <p:xfrm>
          <a:off x="651931" y="1228488"/>
          <a:ext cx="11328402" cy="507074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25985">
                  <a:extLst>
                    <a:ext uri="{9D8B030D-6E8A-4147-A177-3AD203B41FA5}">
                      <a16:colId xmlns:a16="http://schemas.microsoft.com/office/drawing/2014/main" val="4067583674"/>
                    </a:ext>
                  </a:extLst>
                </a:gridCol>
                <a:gridCol w="6802417">
                  <a:extLst>
                    <a:ext uri="{9D8B030D-6E8A-4147-A177-3AD203B41FA5}">
                      <a16:colId xmlns:a16="http://schemas.microsoft.com/office/drawing/2014/main" val="3709519572"/>
                    </a:ext>
                  </a:extLst>
                </a:gridCol>
              </a:tblGrid>
              <a:tr h="3826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8649206"/>
                  </a:ext>
                </a:extLst>
              </a:tr>
              <a:tr h="669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MovieLens 25M (25M ratings, 1,62,541 users, 62,423 movies)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6890939"/>
                  </a:ext>
                </a:extLst>
              </a:tr>
              <a:tr h="669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Additional Textual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TMDB metadata (plot overviews, taglines, poster image paths) (23,138 movies)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9197724"/>
                  </a:ext>
                </a:extLst>
              </a:tr>
              <a:tr h="669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Additional Visual Data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Web-scraped Movie Image Posters (9,000 images)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8191034"/>
                  </a:ext>
                </a:extLst>
              </a:tr>
              <a:tr h="669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Train/Test Split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80% train (≈16M ratings), 20% test (≈4M ratings), user-stratified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2107328"/>
                  </a:ext>
                </a:extLst>
              </a:tr>
              <a:tr h="669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Textual embeddings, shape: (23,138 × 384)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5796338"/>
                  </a:ext>
                </a:extLst>
              </a:tr>
              <a:tr h="669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ResNet-50 embeddings, shape: (23,138 × 2048), ~9,056 valid posters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1972034"/>
                  </a:ext>
                </a:extLst>
              </a:tr>
              <a:tr h="669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Evaluation Setup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 users (ablation study), 1,000 users (full hybrid evaluation)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3610011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CB814395-238E-EF65-47BF-4E0D120E1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066" y="229391"/>
            <a:ext cx="10515600" cy="524195"/>
          </a:xfrm>
        </p:spPr>
        <p:txBody>
          <a:bodyPr>
            <a:no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299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13105404-1945-59ED-26E4-D6D4AF2D93ED}"/>
              </a:ext>
            </a:extLst>
          </p:cNvPr>
          <p:cNvSpPr/>
          <p:nvPr/>
        </p:nvSpPr>
        <p:spPr>
          <a:xfrm>
            <a:off x="7832268" y="3920662"/>
            <a:ext cx="1916637" cy="594213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Search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177EF6E-13C7-29CC-9AF7-6099FE3C5EC9}"/>
              </a:ext>
            </a:extLst>
          </p:cNvPr>
          <p:cNvSpPr/>
          <p:nvPr/>
        </p:nvSpPr>
        <p:spPr>
          <a:xfrm>
            <a:off x="10362146" y="1511444"/>
            <a:ext cx="1734338" cy="83820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Weighted Combination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793FFA8-C6B4-1E53-8CA4-164453C88B2E}"/>
              </a:ext>
            </a:extLst>
          </p:cNvPr>
          <p:cNvSpPr/>
          <p:nvPr/>
        </p:nvSpPr>
        <p:spPr>
          <a:xfrm>
            <a:off x="8320492" y="1511444"/>
            <a:ext cx="1379534" cy="83820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Poster embeddings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45608C1-98A0-48BF-53DE-A3F3B3DC8956}"/>
              </a:ext>
            </a:extLst>
          </p:cNvPr>
          <p:cNvSpPr/>
          <p:nvPr/>
        </p:nvSpPr>
        <p:spPr>
          <a:xfrm>
            <a:off x="8320492" y="2592856"/>
            <a:ext cx="1501902" cy="83820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Content Based Model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21FE45B-E3B0-A045-5B83-DDD12FC0414C}"/>
              </a:ext>
            </a:extLst>
          </p:cNvPr>
          <p:cNvSpPr/>
          <p:nvPr/>
        </p:nvSpPr>
        <p:spPr>
          <a:xfrm>
            <a:off x="8305144" y="457211"/>
            <a:ext cx="1394882" cy="827617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NCF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7AAC091-A0B6-A9D2-99B4-9FEC7C037101}"/>
              </a:ext>
            </a:extLst>
          </p:cNvPr>
          <p:cNvSpPr/>
          <p:nvPr/>
        </p:nvSpPr>
        <p:spPr>
          <a:xfrm>
            <a:off x="5488260" y="1522683"/>
            <a:ext cx="1871133" cy="83820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Model Building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8AA0B11-9F54-6C5D-6B20-5AD83C10BBA3}"/>
              </a:ext>
            </a:extLst>
          </p:cNvPr>
          <p:cNvSpPr/>
          <p:nvPr/>
        </p:nvSpPr>
        <p:spPr>
          <a:xfrm>
            <a:off x="2932250" y="1530100"/>
            <a:ext cx="1871133" cy="83820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Preprocessing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C675EE8-38AA-44A4-90D7-5963D8ED2C25}"/>
              </a:ext>
            </a:extLst>
          </p:cNvPr>
          <p:cNvSpPr/>
          <p:nvPr/>
        </p:nvSpPr>
        <p:spPr>
          <a:xfrm>
            <a:off x="376240" y="1522683"/>
            <a:ext cx="1871133" cy="83820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Collection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3B5B07E-96DC-04C2-0D7C-32BAEFF42926}"/>
              </a:ext>
            </a:extLst>
          </p:cNvPr>
          <p:cNvCxnSpPr>
            <a:cxnSpLocks/>
          </p:cNvCxnSpPr>
          <p:nvPr/>
        </p:nvCxnSpPr>
        <p:spPr>
          <a:xfrm>
            <a:off x="2247373" y="1940985"/>
            <a:ext cx="6900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E898122-D028-5BAB-4A75-7D116EE2FDEB}"/>
              </a:ext>
            </a:extLst>
          </p:cNvPr>
          <p:cNvCxnSpPr>
            <a:cxnSpLocks/>
            <a:stCxn id="52" idx="3"/>
          </p:cNvCxnSpPr>
          <p:nvPr/>
        </p:nvCxnSpPr>
        <p:spPr>
          <a:xfrm>
            <a:off x="4803383" y="1949200"/>
            <a:ext cx="7194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6840F208-F7BC-6E42-9BD1-7DA2CC3EC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960" y="146580"/>
            <a:ext cx="10515600" cy="845608"/>
          </a:xfrm>
        </p:spPr>
        <p:txBody>
          <a:bodyPr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D012C1E-9B1D-4D98-6DCE-93139B3499FD}"/>
              </a:ext>
            </a:extLst>
          </p:cNvPr>
          <p:cNvCxnSpPr>
            <a:stCxn id="51" idx="3"/>
            <a:endCxn id="50" idx="1"/>
          </p:cNvCxnSpPr>
          <p:nvPr/>
        </p:nvCxnSpPr>
        <p:spPr>
          <a:xfrm flipV="1">
            <a:off x="7359393" y="871020"/>
            <a:ext cx="945751" cy="10707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9237873-4370-A07D-CDA4-A29D4E8DF5A5}"/>
              </a:ext>
            </a:extLst>
          </p:cNvPr>
          <p:cNvCxnSpPr>
            <a:stCxn id="51" idx="3"/>
            <a:endCxn id="48" idx="1"/>
          </p:cNvCxnSpPr>
          <p:nvPr/>
        </p:nvCxnSpPr>
        <p:spPr>
          <a:xfrm flipV="1">
            <a:off x="7359393" y="1930544"/>
            <a:ext cx="961099" cy="11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C955392-2171-2A3B-846B-95D4CDCB62A2}"/>
              </a:ext>
            </a:extLst>
          </p:cNvPr>
          <p:cNvCxnSpPr>
            <a:cxnSpLocks/>
            <a:stCxn id="51" idx="3"/>
            <a:endCxn id="49" idx="1"/>
          </p:cNvCxnSpPr>
          <p:nvPr/>
        </p:nvCxnSpPr>
        <p:spPr>
          <a:xfrm>
            <a:off x="7359393" y="1941783"/>
            <a:ext cx="961099" cy="10701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F74F0C7-1B0D-F237-7AC4-ABD7A3343B9B}"/>
              </a:ext>
            </a:extLst>
          </p:cNvPr>
          <p:cNvCxnSpPr>
            <a:cxnSpLocks/>
            <a:stCxn id="50" idx="3"/>
            <a:endCxn id="47" idx="1"/>
          </p:cNvCxnSpPr>
          <p:nvPr/>
        </p:nvCxnSpPr>
        <p:spPr>
          <a:xfrm>
            <a:off x="9700026" y="871020"/>
            <a:ext cx="662120" cy="10595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BA9D75E-D377-FA1C-6B91-A4007A3602E9}"/>
              </a:ext>
            </a:extLst>
          </p:cNvPr>
          <p:cNvCxnSpPr>
            <a:cxnSpLocks/>
            <a:stCxn id="49" idx="3"/>
            <a:endCxn id="47" idx="1"/>
          </p:cNvCxnSpPr>
          <p:nvPr/>
        </p:nvCxnSpPr>
        <p:spPr>
          <a:xfrm flipV="1">
            <a:off x="9822394" y="1930544"/>
            <a:ext cx="539752" cy="1081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B239F20-2BF4-EA43-83EB-70A6C8E1B883}"/>
              </a:ext>
            </a:extLst>
          </p:cNvPr>
          <p:cNvCxnSpPr>
            <a:stCxn id="48" idx="3"/>
            <a:endCxn id="47" idx="1"/>
          </p:cNvCxnSpPr>
          <p:nvPr/>
        </p:nvCxnSpPr>
        <p:spPr>
          <a:xfrm>
            <a:off x="9700026" y="1930544"/>
            <a:ext cx="6621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F294A4B9-C9E5-CCBF-4876-6D04905F1192}"/>
              </a:ext>
            </a:extLst>
          </p:cNvPr>
          <p:cNvSpPr/>
          <p:nvPr/>
        </p:nvSpPr>
        <p:spPr>
          <a:xfrm>
            <a:off x="10330526" y="4641277"/>
            <a:ext cx="1797578" cy="838200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Ranking, Filtering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4FAD9E7-5258-F4CE-68A8-45979C04E924}"/>
              </a:ext>
            </a:extLst>
          </p:cNvPr>
          <p:cNvCxnSpPr>
            <a:cxnSpLocks/>
            <a:stCxn id="47" idx="2"/>
            <a:endCxn id="39" idx="0"/>
          </p:cNvCxnSpPr>
          <p:nvPr/>
        </p:nvCxnSpPr>
        <p:spPr>
          <a:xfrm>
            <a:off x="11229315" y="2349644"/>
            <a:ext cx="0" cy="22916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73F8F682-BCE7-3FA5-581B-9256DF160E9C}"/>
              </a:ext>
            </a:extLst>
          </p:cNvPr>
          <p:cNvSpPr/>
          <p:nvPr/>
        </p:nvSpPr>
        <p:spPr>
          <a:xfrm>
            <a:off x="7842789" y="4763271"/>
            <a:ext cx="1916637" cy="594213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Compatibility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59CA3C0B-1F8C-33B2-2DCE-2435BB97865C}"/>
              </a:ext>
            </a:extLst>
          </p:cNvPr>
          <p:cNvCxnSpPr>
            <a:cxnSpLocks/>
            <a:stCxn id="39" idx="1"/>
            <a:endCxn id="46" idx="3"/>
          </p:cNvCxnSpPr>
          <p:nvPr/>
        </p:nvCxnSpPr>
        <p:spPr>
          <a:xfrm flipH="1" flipV="1">
            <a:off x="9748905" y="4217769"/>
            <a:ext cx="581621" cy="842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C3F4F100-7245-4AB9-D360-8FC7B04EF06A}"/>
              </a:ext>
            </a:extLst>
          </p:cNvPr>
          <p:cNvCxnSpPr>
            <a:stCxn id="39" idx="1"/>
            <a:endCxn id="80" idx="3"/>
          </p:cNvCxnSpPr>
          <p:nvPr/>
        </p:nvCxnSpPr>
        <p:spPr>
          <a:xfrm flipH="1">
            <a:off x="9759426" y="5060377"/>
            <a:ext cx="5711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A35BA33C-8427-341C-1F43-799F5EFCBBD7}"/>
              </a:ext>
            </a:extLst>
          </p:cNvPr>
          <p:cNvCxnSpPr>
            <a:cxnSpLocks/>
            <a:stCxn id="39" idx="1"/>
            <a:endCxn id="134" idx="3"/>
          </p:cNvCxnSpPr>
          <p:nvPr/>
        </p:nvCxnSpPr>
        <p:spPr>
          <a:xfrm flipH="1">
            <a:off x="9748905" y="5060377"/>
            <a:ext cx="581621" cy="831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03DE74A-3ABC-FE95-7412-446C9490699B}"/>
              </a:ext>
            </a:extLst>
          </p:cNvPr>
          <p:cNvSpPr/>
          <p:nvPr/>
        </p:nvSpPr>
        <p:spPr>
          <a:xfrm>
            <a:off x="5424761" y="5453569"/>
            <a:ext cx="1916638" cy="880782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Top 10 Recommendation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E4A1F6C8-A3DD-DBEF-AC7D-A39BAA45BA54}"/>
              </a:ext>
            </a:extLst>
          </p:cNvPr>
          <p:cNvCxnSpPr>
            <a:cxnSpLocks/>
            <a:stCxn id="134" idx="1"/>
            <a:endCxn id="109" idx="3"/>
          </p:cNvCxnSpPr>
          <p:nvPr/>
        </p:nvCxnSpPr>
        <p:spPr>
          <a:xfrm flipH="1">
            <a:off x="7341399" y="5892057"/>
            <a:ext cx="490869" cy="19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DC7F2BEC-4BDF-D855-33DC-5D0D1689D12E}"/>
              </a:ext>
            </a:extLst>
          </p:cNvPr>
          <p:cNvCxnSpPr>
            <a:cxnSpLocks/>
            <a:stCxn id="135" idx="1"/>
            <a:endCxn id="138" idx="3"/>
          </p:cNvCxnSpPr>
          <p:nvPr/>
        </p:nvCxnSpPr>
        <p:spPr>
          <a:xfrm flipH="1" flipV="1">
            <a:off x="4703306" y="3670402"/>
            <a:ext cx="703461" cy="5623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2717FA7C-337E-917B-0FA6-BE8B329444F8}"/>
              </a:ext>
            </a:extLst>
          </p:cNvPr>
          <p:cNvCxnSpPr>
            <a:cxnSpLocks/>
            <a:stCxn id="46" idx="1"/>
          </p:cNvCxnSpPr>
          <p:nvPr/>
        </p:nvCxnSpPr>
        <p:spPr>
          <a:xfrm flipH="1" flipV="1">
            <a:off x="7359393" y="4217768"/>
            <a:ext cx="47287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9" name="Rectangle 128">
            <a:extLst>
              <a:ext uri="{FF2B5EF4-FFF2-40B4-BE49-F238E27FC236}">
                <a16:creationId xmlns:a16="http://schemas.microsoft.com/office/drawing/2014/main" id="{4257CE36-919D-C378-417F-8183EA2C66DA}"/>
              </a:ext>
            </a:extLst>
          </p:cNvPr>
          <p:cNvSpPr/>
          <p:nvPr/>
        </p:nvSpPr>
        <p:spPr>
          <a:xfrm>
            <a:off x="5442756" y="4768133"/>
            <a:ext cx="1916637" cy="594213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Confidence Scores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BD32A9A7-F1E5-3E4D-5DFD-D2E7104C2E74}"/>
              </a:ext>
            </a:extLst>
          </p:cNvPr>
          <p:cNvCxnSpPr>
            <a:stCxn id="80" idx="1"/>
            <a:endCxn id="129" idx="3"/>
          </p:cNvCxnSpPr>
          <p:nvPr/>
        </p:nvCxnSpPr>
        <p:spPr>
          <a:xfrm flipH="1">
            <a:off x="7359393" y="5060378"/>
            <a:ext cx="483396" cy="4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4" name="Rectangle 133">
            <a:extLst>
              <a:ext uri="{FF2B5EF4-FFF2-40B4-BE49-F238E27FC236}">
                <a16:creationId xmlns:a16="http://schemas.microsoft.com/office/drawing/2014/main" id="{A8F5EF69-6784-F08B-8B1C-BD58E34852E8}"/>
              </a:ext>
            </a:extLst>
          </p:cNvPr>
          <p:cNvSpPr/>
          <p:nvPr/>
        </p:nvSpPr>
        <p:spPr>
          <a:xfrm>
            <a:off x="7832268" y="5594950"/>
            <a:ext cx="1916637" cy="594213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Recommendation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7CEC9781-6D50-E235-759C-5EB297C57E1A}"/>
              </a:ext>
            </a:extLst>
          </p:cNvPr>
          <p:cNvSpPr/>
          <p:nvPr/>
        </p:nvSpPr>
        <p:spPr>
          <a:xfrm>
            <a:off x="5406767" y="3935656"/>
            <a:ext cx="1952626" cy="594213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</a:t>
            </a:r>
            <a:r>
              <a:rPr lang="en-IN" dirty="0" err="1">
                <a:solidFill>
                  <a:schemeClr val="tx1"/>
                </a:solidFill>
              </a:rPr>
              <a:t>uery</a:t>
            </a:r>
            <a:r>
              <a:rPr lang="en-IN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AECF7A9E-1BF6-3B63-A229-9B3D12C9BC24}"/>
              </a:ext>
            </a:extLst>
          </p:cNvPr>
          <p:cNvSpPr/>
          <p:nvPr/>
        </p:nvSpPr>
        <p:spPr>
          <a:xfrm>
            <a:off x="2388207" y="4279632"/>
            <a:ext cx="2315099" cy="594213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Ultra Specific Query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93A1E387-5CB8-9807-602C-328005FB793F}"/>
              </a:ext>
            </a:extLst>
          </p:cNvPr>
          <p:cNvSpPr/>
          <p:nvPr/>
        </p:nvSpPr>
        <p:spPr>
          <a:xfrm>
            <a:off x="2370213" y="3373295"/>
            <a:ext cx="2333093" cy="594213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Emotion Aware Recommendations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8F1DB759-8C6F-9FC4-F569-0E4CF5B14B21}"/>
              </a:ext>
            </a:extLst>
          </p:cNvPr>
          <p:cNvCxnSpPr>
            <a:cxnSpLocks/>
            <a:stCxn id="135" idx="1"/>
            <a:endCxn id="137" idx="3"/>
          </p:cNvCxnSpPr>
          <p:nvPr/>
        </p:nvCxnSpPr>
        <p:spPr>
          <a:xfrm flipH="1">
            <a:off x="4703306" y="4232763"/>
            <a:ext cx="703461" cy="343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5833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91BCF70-C5DA-1F75-214B-88DF74AE18A4}"/>
              </a:ext>
            </a:extLst>
          </p:cNvPr>
          <p:cNvSpPr/>
          <p:nvPr/>
        </p:nvSpPr>
        <p:spPr>
          <a:xfrm>
            <a:off x="6163733" y="186267"/>
            <a:ext cx="5308600" cy="3191933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Sentiment-Adaptive Fusion</a:t>
            </a:r>
          </a:p>
          <a:p>
            <a:pPr algn="ctr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Dynamically combines collaborative filtering, textual semantics, and visual features using adaptive weights which allows the model to prioritise the most informative signal based on user context.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l-P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S(u,i)=α</a:t>
            </a:r>
            <a:r>
              <a:rPr lang="en-IN" dirty="0"/>
              <a:t> · </a:t>
            </a:r>
            <a:r>
              <a:rPr lang="pl-P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_n</a:t>
            </a:r>
            <a:r>
              <a:rPr lang="pl-P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cf​+β</a:t>
            </a:r>
            <a:r>
              <a:rPr lang="en-IN" dirty="0"/>
              <a:t> · </a:t>
            </a:r>
            <a:r>
              <a:rPr lang="pl-P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pl-P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text​+γ</a:t>
            </a:r>
            <a:r>
              <a:rPr lang="en-IN" dirty="0"/>
              <a:t> · </a:t>
            </a:r>
            <a:r>
              <a:rPr lang="pl-P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pl-P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(Here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α,β,γ are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0.60,0.25,0.15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9D7D151-59C3-555A-A7CF-93A70500B08F}"/>
              </a:ext>
            </a:extLst>
          </p:cNvPr>
          <p:cNvSpPr/>
          <p:nvPr/>
        </p:nvSpPr>
        <p:spPr>
          <a:xfrm>
            <a:off x="660400" y="3488267"/>
            <a:ext cx="5308600" cy="3191933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Time-Decay User Modeling</a:t>
            </a:r>
          </a:p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exponential decay to user interactions so that recent preferences influence recommendations more than older ones.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the system adapt to evolving user tastes over time.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w(t) = e^{−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λt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 (Here λ=0.3)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A652F82-7BA9-788A-129B-A911D3326C55}"/>
              </a:ext>
            </a:extLst>
          </p:cNvPr>
          <p:cNvSpPr/>
          <p:nvPr/>
        </p:nvSpPr>
        <p:spPr>
          <a:xfrm>
            <a:off x="6223001" y="3488267"/>
            <a:ext cx="5308600" cy="3191933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Genre–Poster Hybrid Similarity</a:t>
            </a:r>
          </a:p>
          <a:p>
            <a:pPr algn="ctr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visual similarity by incorporating genre overlap, ensuring recommendations are both visually and semantically relevant.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avoids mismatches where visuals are similar but themes differ.</a:t>
            </a:r>
          </a:p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 = 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CosSim</a:t>
            </a:r>
            <a:r>
              <a:rPr lang="en-IN" dirty="0"/>
              <a:t> ·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 + Jaccard)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16169D6-0BD9-D734-D746-00105178121B}"/>
              </a:ext>
            </a:extLst>
          </p:cNvPr>
          <p:cNvSpPr/>
          <p:nvPr/>
        </p:nvSpPr>
        <p:spPr>
          <a:xfrm>
            <a:off x="660400" y="262467"/>
            <a:ext cx="5367868" cy="3107266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 Classification</a:t>
            </a:r>
          </a:p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Classifies any free-form user text into 7 emotion classes using DistilRoBERTa without any structured questions and maps to genre preferences (e.g. sadness → Drama, Family)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feeds directly into N1 to adjust α/β/γ weights</a:t>
            </a:r>
          </a:p>
        </p:txBody>
      </p:sp>
    </p:spTree>
    <p:extLst>
      <p:ext uri="{BB962C8B-B14F-4D97-AF65-F5344CB8AC3E}">
        <p14:creationId xmlns:p14="http://schemas.microsoft.com/office/powerpoint/2010/main" val="3968203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55056-7334-70FF-CFA6-EFAE8EAD9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499F092-2AB8-8EFF-F666-03BB14B3208E}"/>
              </a:ext>
            </a:extLst>
          </p:cNvPr>
          <p:cNvSpPr/>
          <p:nvPr/>
        </p:nvSpPr>
        <p:spPr>
          <a:xfrm>
            <a:off x="6096000" y="127000"/>
            <a:ext cx="5655734" cy="3124200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Anchor-Based Refinement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queries referencing specific items (e.g., “like Interstellar but shorter”).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vector arithmetic to shift recommendations while preserving similarity to the anchor.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q′ = E(anchor) + </a:t>
            </a:r>
            <a:r>
              <a:rPr lang="el-G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endParaRPr lang="el-G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5A2AAEC-EF4B-80D8-7F3E-CF3724148DB3}"/>
              </a:ext>
            </a:extLst>
          </p:cNvPr>
          <p:cNvSpPr/>
          <p:nvPr/>
        </p:nvSpPr>
        <p:spPr>
          <a:xfrm>
            <a:off x="287866" y="3429000"/>
            <a:ext cx="5571065" cy="3251200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Mood–Theme Decoupling</a:t>
            </a:r>
          </a:p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Separates emotional tone (mood) and content (theme) in queries for finer control.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express complex preferences like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“sad but inspiring”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 = w₁</a:t>
            </a:r>
            <a:r>
              <a:rPr lang="en-IN" dirty="0"/>
              <a:t> ·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Mood + w₂</a:t>
            </a:r>
            <a:r>
              <a:rPr lang="en-IN" dirty="0"/>
              <a:t> ·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 (Here w1=0.35, w2=0.65)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F9A9D29-3E1D-3717-495F-0742E8C5E078}"/>
              </a:ext>
            </a:extLst>
          </p:cNvPr>
          <p:cNvSpPr/>
          <p:nvPr/>
        </p:nvSpPr>
        <p:spPr>
          <a:xfrm>
            <a:off x="287867" y="127001"/>
            <a:ext cx="5571066" cy="3124200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Negation-Aware Processing</a:t>
            </a:r>
          </a:p>
          <a:p>
            <a:pPr algn="ctr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exclusion constraints (e.g., “not horror”) by modifying query embeddings rather than simple filtering.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strict and consistent removal of undesired content.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q′ = q − </a:t>
            </a:r>
            <a:r>
              <a:rPr lang="el-G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IN" dirty="0"/>
              <a:t> · 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E_neg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(Here </a:t>
            </a:r>
            <a:r>
              <a:rPr lang="el-G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0.45)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492B715-C11A-F99E-DA91-73D4F4AF7CDD}"/>
              </a:ext>
            </a:extLst>
          </p:cNvPr>
          <p:cNvSpPr/>
          <p:nvPr/>
        </p:nvSpPr>
        <p:spPr>
          <a:xfrm>
            <a:off x="6096000" y="3429000"/>
            <a:ext cx="5668432" cy="3191933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Recommendations</a:t>
            </a:r>
          </a:p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human-readable explanations using a language model, improving transparency and user trust.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users understand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recommendation was made.</a:t>
            </a:r>
          </a:p>
        </p:txBody>
      </p:sp>
    </p:spTree>
    <p:extLst>
      <p:ext uri="{BB962C8B-B14F-4D97-AF65-F5344CB8AC3E}">
        <p14:creationId xmlns:p14="http://schemas.microsoft.com/office/powerpoint/2010/main" val="3782816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AC6920-18A4-541D-1C1F-2EF087B0A4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333" y="0"/>
            <a:ext cx="90593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04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4689E-FF61-5FDF-44F6-DA6C661B1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77A36A-15F1-4B9E-BBC3-3B965871FC69}"/>
              </a:ext>
            </a:extLst>
          </p:cNvPr>
          <p:cNvSpPr txBox="1"/>
          <p:nvPr/>
        </p:nvSpPr>
        <p:spPr>
          <a:xfrm>
            <a:off x="681567" y="1583267"/>
            <a:ext cx="1082886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Precision@10: of 10 recommendations, how many did the user actually like?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Recall@10: of all movies the user likes, what fraction appear in our top 10?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NDCG@10: are liked movies ranked higher in the list? (rank-aware, 0 to 1)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ILD (Intra-List Diversity): are the 10 results diverse, not repetitive?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NER (Negation Enforcement Rate): do results correctly exclude the specified genres?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488691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8B24A-551B-12DE-2790-1E8E8F70F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101601"/>
            <a:ext cx="4123267" cy="9906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Ablation Study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55E2D2C-BCAF-2DB5-F9AA-F071CC9920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3854"/>
            <a:ext cx="5454717" cy="3170291"/>
          </a:xfrm>
          <a:prstGeom prst="rect">
            <a:avLst/>
          </a:prstGeom>
        </p:spPr>
      </p:pic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25ADD9B-1142-BCBF-9C61-A1F4DC846F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990811"/>
              </p:ext>
            </p:extLst>
          </p:nvPr>
        </p:nvGraphicFramePr>
        <p:xfrm>
          <a:off x="5621867" y="1389363"/>
          <a:ext cx="6493932" cy="362478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82322">
                  <a:extLst>
                    <a:ext uri="{9D8B030D-6E8A-4147-A177-3AD203B41FA5}">
                      <a16:colId xmlns:a16="http://schemas.microsoft.com/office/drawing/2014/main" val="267137658"/>
                    </a:ext>
                  </a:extLst>
                </a:gridCol>
                <a:gridCol w="1082322">
                  <a:extLst>
                    <a:ext uri="{9D8B030D-6E8A-4147-A177-3AD203B41FA5}">
                      <a16:colId xmlns:a16="http://schemas.microsoft.com/office/drawing/2014/main" val="2034249833"/>
                    </a:ext>
                  </a:extLst>
                </a:gridCol>
                <a:gridCol w="1082322">
                  <a:extLst>
                    <a:ext uri="{9D8B030D-6E8A-4147-A177-3AD203B41FA5}">
                      <a16:colId xmlns:a16="http://schemas.microsoft.com/office/drawing/2014/main" val="2339668980"/>
                    </a:ext>
                  </a:extLst>
                </a:gridCol>
                <a:gridCol w="1082322">
                  <a:extLst>
                    <a:ext uri="{9D8B030D-6E8A-4147-A177-3AD203B41FA5}">
                      <a16:colId xmlns:a16="http://schemas.microsoft.com/office/drawing/2014/main" val="1529189726"/>
                    </a:ext>
                  </a:extLst>
                </a:gridCol>
                <a:gridCol w="1082322">
                  <a:extLst>
                    <a:ext uri="{9D8B030D-6E8A-4147-A177-3AD203B41FA5}">
                      <a16:colId xmlns:a16="http://schemas.microsoft.com/office/drawing/2014/main" val="272883041"/>
                    </a:ext>
                  </a:extLst>
                </a:gridCol>
                <a:gridCol w="1082322">
                  <a:extLst>
                    <a:ext uri="{9D8B030D-6E8A-4147-A177-3AD203B41FA5}">
                      <a16:colId xmlns:a16="http://schemas.microsoft.com/office/drawing/2014/main" val="2589620790"/>
                    </a:ext>
                  </a:extLst>
                </a:gridCol>
              </a:tblGrid>
              <a:tr h="622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Configuration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 (</a:t>
                      </a: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NCF)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β (</a:t>
                      </a: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γ (</a:t>
                      </a: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Precision@10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NDCG@10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2970823"/>
                  </a:ext>
                </a:extLst>
              </a:tr>
              <a:tr h="6174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NCF only (baseline)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0.271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6521203"/>
                  </a:ext>
                </a:extLst>
              </a:tr>
              <a:tr h="6174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NCF + Text (no poster)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0.273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4020102"/>
                  </a:ext>
                </a:extLst>
              </a:tr>
              <a:tr h="515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Text-dominant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7889863"/>
                  </a:ext>
                </a:extLst>
              </a:tr>
              <a:tr h="515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Visual-boost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0.273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1085032"/>
                  </a:ext>
                </a:extLst>
              </a:tr>
              <a:tr h="727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Optimal Configuration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0.60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0.15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0.258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0.279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898448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1473018-1C1A-1ACD-FBD0-50E138C3E051}"/>
              </a:ext>
            </a:extLst>
          </p:cNvPr>
          <p:cNvSpPr txBox="1"/>
          <p:nvPr/>
        </p:nvSpPr>
        <p:spPr>
          <a:xfrm>
            <a:off x="889000" y="5765798"/>
            <a:ext cx="622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multimodal fusion yields the best ranking performance.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952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338249C-6BE7-ABFA-A11B-4BCF48DEAA84}"/>
              </a:ext>
            </a:extLst>
          </p:cNvPr>
          <p:cNvGrpSpPr/>
          <p:nvPr/>
        </p:nvGrpSpPr>
        <p:grpSpPr>
          <a:xfrm>
            <a:off x="6545899" y="693877"/>
            <a:ext cx="5292356" cy="5758055"/>
            <a:chOff x="6495099" y="342223"/>
            <a:chExt cx="5292356" cy="575805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D4D6DAA-10EA-1D74-E71D-7CA578CBDD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95099" y="1342497"/>
              <a:ext cx="4987555" cy="4173006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DAB439A-318E-4861-C095-AC75AD993485}"/>
                </a:ext>
              </a:extLst>
            </p:cNvPr>
            <p:cNvSpPr txBox="1"/>
            <p:nvPr/>
          </p:nvSpPr>
          <p:spPr>
            <a:xfrm>
              <a:off x="7095067" y="5515503"/>
              <a:ext cx="455692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Comparison of ILD for </a:t>
              </a:r>
              <a:r>
                <a:rPr lang="en-US" sz="1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ultra-specific queries </a:t>
              </a:r>
              <a: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(baseline vs proposed)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F771DFB-F7FA-70C2-ECE7-E4D2D2DA715F}"/>
                </a:ext>
              </a:extLst>
            </p:cNvPr>
            <p:cNvSpPr txBox="1"/>
            <p:nvPr/>
          </p:nvSpPr>
          <p:spPr>
            <a:xfrm>
              <a:off x="7230535" y="342223"/>
              <a:ext cx="455692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Proposed model achieves higher diversity across all queries, showing better balance between specificity and variety for</a:t>
              </a:r>
              <a:r>
                <a:rPr lang="en-US" sz="1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ultra-specific queries 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0EF0314-F06A-E62D-1689-E7DF208A58EB}"/>
              </a:ext>
            </a:extLst>
          </p:cNvPr>
          <p:cNvGrpSpPr/>
          <p:nvPr/>
        </p:nvGrpSpPr>
        <p:grpSpPr>
          <a:xfrm>
            <a:off x="611847" y="816988"/>
            <a:ext cx="5583268" cy="5634944"/>
            <a:chOff x="411132" y="465333"/>
            <a:chExt cx="5583268" cy="563494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40813E6-EA9A-8647-A39D-527099C32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1132" y="1608333"/>
              <a:ext cx="5395220" cy="390717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757DBFC-4973-E3FB-BE17-2D7BC331B77B}"/>
                </a:ext>
              </a:extLst>
            </p:cNvPr>
            <p:cNvSpPr txBox="1"/>
            <p:nvPr/>
          </p:nvSpPr>
          <p:spPr>
            <a:xfrm>
              <a:off x="1249432" y="5515502"/>
              <a:ext cx="455692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Negation enforcement accuracy (%) comparison across query types for </a:t>
              </a:r>
              <a:r>
                <a:rPr lang="en-US" sz="1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ultra-specific queries </a:t>
              </a:r>
              <a:endPara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DB4ABAA-FE7D-A0FF-1AE6-0A16916A4154}"/>
                </a:ext>
              </a:extLst>
            </p:cNvPr>
            <p:cNvSpPr txBox="1"/>
            <p:nvPr/>
          </p:nvSpPr>
          <p:spPr>
            <a:xfrm>
              <a:off x="599180" y="465333"/>
              <a:ext cx="539522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Proposed model consistently achieves near-perfect negation handling, outperforming the baseline for </a:t>
              </a: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ultra-specific queries 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62131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52D8FBE2-87F5-DE98-EA6C-7D2EA9C0C229}"/>
              </a:ext>
            </a:extLst>
          </p:cNvPr>
          <p:cNvGrpSpPr/>
          <p:nvPr/>
        </p:nvGrpSpPr>
        <p:grpSpPr>
          <a:xfrm>
            <a:off x="247069" y="471087"/>
            <a:ext cx="6052131" cy="5690132"/>
            <a:chOff x="247069" y="471087"/>
            <a:chExt cx="6052131" cy="569013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8460B3F-CDA9-D5DD-39FD-7E4F64384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7069" y="1588873"/>
              <a:ext cx="5960656" cy="3680254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5C09033-3106-6099-82C6-857626F7BD4D}"/>
                </a:ext>
              </a:extLst>
            </p:cNvPr>
            <p:cNvSpPr txBox="1"/>
            <p:nvPr/>
          </p:nvSpPr>
          <p:spPr>
            <a:xfrm>
              <a:off x="982132" y="5545666"/>
              <a:ext cx="4912325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ILD comparison across different user emotional states.</a:t>
              </a:r>
            </a:p>
            <a:p>
              <a:endParaRPr lang="en-IN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E2792AD-863D-078E-E215-F6073CB7C429}"/>
                </a:ext>
              </a:extLst>
            </p:cNvPr>
            <p:cNvSpPr txBox="1"/>
            <p:nvPr/>
          </p:nvSpPr>
          <p:spPr>
            <a:xfrm>
              <a:off x="846667" y="471087"/>
              <a:ext cx="5452533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Proposed model provides more diverse and emotion-aligned recommendations than baseline for chatbot</a:t>
              </a:r>
            </a:p>
            <a:p>
              <a:endParaRPr lang="en-I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C7BBA84-295F-2811-5BA4-31800FBC4A5A}"/>
              </a:ext>
            </a:extLst>
          </p:cNvPr>
          <p:cNvGrpSpPr/>
          <p:nvPr/>
        </p:nvGrpSpPr>
        <p:grpSpPr>
          <a:xfrm>
            <a:off x="6425014" y="487622"/>
            <a:ext cx="5910919" cy="5572067"/>
            <a:chOff x="6425014" y="487622"/>
            <a:chExt cx="5910919" cy="557206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6429450-5808-E30E-E973-BBD5E01EFC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25014" y="1332861"/>
              <a:ext cx="5519917" cy="3936266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484E469-2724-DC5E-8CC6-3D993B83420A}"/>
                </a:ext>
              </a:extLst>
            </p:cNvPr>
            <p:cNvSpPr txBox="1"/>
            <p:nvPr/>
          </p:nvSpPr>
          <p:spPr>
            <a:xfrm>
              <a:off x="7272867" y="5474914"/>
              <a:ext cx="506306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Compatibility scores for liked vs disliked items</a:t>
              </a:r>
            </a:p>
            <a:p>
              <a:endPara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3041340-D5AF-1675-BA52-4368CEB47F2E}"/>
                </a:ext>
              </a:extLst>
            </p:cNvPr>
            <p:cNvSpPr txBox="1"/>
            <p:nvPr/>
          </p:nvSpPr>
          <p:spPr>
            <a:xfrm>
              <a:off x="6993467" y="487622"/>
              <a:ext cx="4766733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Proposed model shows stronger separation, indicating better understanding of user preferences.</a:t>
              </a:r>
            </a:p>
            <a:p>
              <a:endParaRPr lang="en-IN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79339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6CEF4-335E-1EA8-EE41-2966ECEE3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Comparison with Related Work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798B1D-A923-3E6B-EC66-3ABA067A3A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6033" y="1798919"/>
            <a:ext cx="8043912" cy="441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297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C7093-1CB7-F13A-5A9B-A02FDBA6D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238126"/>
            <a:ext cx="10515600" cy="921808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Demo 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E59549-1710-8D52-8921-CC15B93FF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44" y="1253067"/>
            <a:ext cx="11418256" cy="5223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9190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94875E-6D98-3684-B204-CBCA0BAF25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534"/>
            <a:ext cx="12192000" cy="6602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2995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265F62-CB9C-A2E4-64E2-1E7359E19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8950"/>
            <a:ext cx="12192000" cy="608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5967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6C7C4A-3616-BF2F-5F92-2FD22F69C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783"/>
            <a:ext cx="12192000" cy="656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5390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EFF8D-B783-2A62-E6FE-4DB4F3BAE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267" y="119593"/>
            <a:ext cx="10515600" cy="1175808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6A3D5B8-AF41-5C9F-7634-28057452AE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419104"/>
              </p:ext>
            </p:extLst>
          </p:nvPr>
        </p:nvGraphicFramePr>
        <p:xfrm>
          <a:off x="838200" y="1584907"/>
          <a:ext cx="10515600" cy="32918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59784006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8155273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3308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 / NCF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TensorFlow + PyTorch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5754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 Embeddings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Sentence-Transformers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5432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ResNet-50 (PyTorch, pretrained ImageNet)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7095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Emotion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DistilRoBERTa (HuggingFace Transformers)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7509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 Explanations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Groq API (Llama-3)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2168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Streamlit (5 tabs, Netflix dark theme)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4979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MovieLens 25M + TMDB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3514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scikit-learn, NumPy, pandas, matplotlib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70345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82911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618F2-7C40-9F29-1AAD-63415B7FB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44992"/>
            <a:ext cx="10515600" cy="96414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718992-9910-7891-2699-CE999D61FCD4}"/>
              </a:ext>
            </a:extLst>
          </p:cNvPr>
          <p:cNvSpPr txBox="1"/>
          <p:nvPr/>
        </p:nvSpPr>
        <p:spPr>
          <a:xfrm>
            <a:off x="228600" y="3892942"/>
            <a:ext cx="112776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cross-encoder re-ranking (top-50) to improve precision by ~5–8%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 complete poster coverage using real-time TMDB API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Fine-tune DistilRoBERTa on a movie-specific emotion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the system to multi-domain recommendations (music, books)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7019FE-0164-7C7C-2840-981CA1A68AB8}"/>
              </a:ext>
            </a:extLst>
          </p:cNvPr>
          <p:cNvSpPr txBox="1"/>
          <p:nvPr/>
        </p:nvSpPr>
        <p:spPr>
          <a:xfrm>
            <a:off x="364067" y="1210733"/>
            <a:ext cx="1114213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CineMatch presents a unified multimodal recommendation framework that integrates collaborative, textual, and visual signals with seven novel enhancements, all grounded in existing literature. The system achieves perfect negation enforcement (100%), ensuring precise handling of user constraints, and demonstrates a significant improvement in preference separation, leading to more accurate compatibility predictions. Beyond performance, the model is fully realized as an end-to-end solution, including implementation, evaluation, and deployment as a live Streamlit application, highlighting its practicality for real-world use.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26532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89CAD-EB70-0C4A-528B-AA82E070E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66" y="221193"/>
            <a:ext cx="10515600" cy="794808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474617C-6B2F-D17D-D756-1C25CE3A0C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4700" y="1280237"/>
            <a:ext cx="10982234" cy="50167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[1] Y. Hou 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et al.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, "Large Language Models are Zero-Shot Rankers for Recommender Systems," in 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Proc. Eur. Conf. Inf. Retrieval (ECIR)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, Glasgow, UK, 2024, pp. 164–181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[2] G. Penha and C. Hauff, "Evaluating Conversational Recommender Systems via User Simulation," in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Proc. Eur. Conf. Inf. Retrieval (ECIR)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, Stavanger, Norway, 2022, pp. 177–192.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0000"/>
              </a:lnSpc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[3] X. Zhao 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et al.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, "Incorporating User Emotion in Recommender Systems: A Survey of Affective Recommendation," 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Inf. Process. Manage.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, vol. 60, no. 2, Mar. 2023, Art. no. 103189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hlinkClick r:id="rId3" action="ppaction://hlinksldjump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[4] Y. Wei, X. Wang, X. He, and T.-S. Chua, "Light Graph Tuning for Multimodal Recommendation," in 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Proc. ACM Int. Conf. Multimedia (MM)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, Ottawa, ON, Canada, Oct. 2023, pp. 4321–4330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hlinkClick r:id="rId3" action="ppaction://hlinksldjump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[5] Z. Lin 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et al.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, "Multimodal Recommendation with Contrastive Learning: A Survey," 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IEEE Trans. Multimedia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, 2024,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doi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: 10.1109/TMM.2024.3367890. 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(Note: Updated DOI/status if officially published)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393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1395</TotalTime>
  <Words>1652</Words>
  <Application>Microsoft Office PowerPoint</Application>
  <PresentationFormat>Widescreen</PresentationFormat>
  <Paragraphs>206</Paragraphs>
  <Slides>20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Office Theme</vt:lpstr>
      <vt:lpstr>A Hybrid Deep Learning–Based Multimodal Explainable Movie Recommendation System </vt:lpstr>
      <vt:lpstr>Problem Statement</vt:lpstr>
      <vt:lpstr>Literature Survey</vt:lpstr>
      <vt:lpstr>Dataset</vt:lpstr>
      <vt:lpstr>Methodology</vt:lpstr>
      <vt:lpstr>PowerPoint Presentation</vt:lpstr>
      <vt:lpstr>PowerPoint Presentation</vt:lpstr>
      <vt:lpstr>PowerPoint Presentation</vt:lpstr>
      <vt:lpstr>Evaluation Metrics</vt:lpstr>
      <vt:lpstr>Ablation Study</vt:lpstr>
      <vt:lpstr>PowerPoint Presentation</vt:lpstr>
      <vt:lpstr>PowerPoint Presentation</vt:lpstr>
      <vt:lpstr>Feature Comparison with Related Work</vt:lpstr>
      <vt:lpstr>UI Demo </vt:lpstr>
      <vt:lpstr>PowerPoint Presentation</vt:lpstr>
      <vt:lpstr>PowerPoint Presentation</vt:lpstr>
      <vt:lpstr>PowerPoint Presentation</vt:lpstr>
      <vt:lpstr>Tech Stack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Madhura Bashini</dc:creator>
  <cp:lastModifiedBy>Madhura Bashini</cp:lastModifiedBy>
  <cp:revision>13</cp:revision>
  <dcterms:created xsi:type="dcterms:W3CDTF">2026-03-29T18:19:35Z</dcterms:created>
  <dcterms:modified xsi:type="dcterms:W3CDTF">2026-04-01T19:06:30Z</dcterms:modified>
</cp:coreProperties>
</file>